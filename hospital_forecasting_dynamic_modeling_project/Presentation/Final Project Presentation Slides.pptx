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0" roundtripDataSignature="AMtx7mhvgoqecI9AWmzDY3XvKMM0yT08E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358D06E-765F-45C7-98DA-DD4853BF9946}">
  <a:tblStyle styleId="{D358D06E-765F-45C7-98DA-DD4853BF9946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b19871be10_0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b19871be10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youtu.be/CnK2XfcPGgg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336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457200" y="1399309"/>
            <a:ext cx="8229600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Forecasting Hospital Bed Occupancy</a:t>
            </a:r>
            <a:endParaRPr/>
          </a:p>
          <a:p>
            <a:pPr indent="0" lvl="0" marL="0" marR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DAE8FC"/>
                </a:solidFill>
                <a:latin typeface="Calibri"/>
                <a:ea typeface="Calibri"/>
                <a:cs typeface="Calibri"/>
                <a:sym typeface="Calibri"/>
              </a:rPr>
              <a:t>A Comparative Analysis of Time Series Models</a:t>
            </a:r>
            <a:endParaRPr/>
          </a:p>
        </p:txBody>
      </p:sp>
      <p:sp>
        <p:nvSpPr>
          <p:cNvPr id="86" name="Google Shape;86;p1"/>
          <p:cNvSpPr txBox="1"/>
          <p:nvPr/>
        </p:nvSpPr>
        <p:spPr>
          <a:xfrm>
            <a:off x="1741738" y="3629891"/>
            <a:ext cx="5660524" cy="8617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CSCI E-116: Dynamic Modeling and Forecasting in Big Data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DAE8FC"/>
                </a:solidFill>
                <a:latin typeface="Calibri"/>
                <a:ea typeface="Calibri"/>
                <a:cs typeface="Calibri"/>
                <a:sym typeface="Calibri"/>
              </a:rPr>
              <a:t>Harvard University Extension School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DAE8FC"/>
                </a:solidFill>
                <a:latin typeface="Calibri"/>
                <a:ea typeface="Calibri"/>
                <a:cs typeface="Calibri"/>
                <a:sym typeface="Calibri"/>
              </a:rPr>
              <a:t>December 2025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Hospital Capacity Challenge</a:t>
            </a:r>
            <a:endParaRPr/>
          </a:p>
        </p:txBody>
      </p:sp>
      <p:sp>
        <p:nvSpPr>
          <p:cNvPr id="93" name="Google Shape;93;p2"/>
          <p:cNvSpPr/>
          <p:nvPr/>
        </p:nvSpPr>
        <p:spPr>
          <a:xfrm>
            <a:off x="274320" y="1371600"/>
            <a:ext cx="4114800" cy="2560320"/>
          </a:xfrm>
          <a:prstGeom prst="roundRect">
            <a:avLst>
              <a:gd fmla="val 16667" name="adj"/>
            </a:avLst>
          </a:prstGeom>
          <a:solidFill>
            <a:srgbClr val="FFE6E6"/>
          </a:solidFill>
          <a:ln cap="flat" cmpd="sng" w="9525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2"/>
          <p:cNvSpPr txBox="1"/>
          <p:nvPr/>
        </p:nvSpPr>
        <p:spPr>
          <a:xfrm>
            <a:off x="457200" y="146304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⚠️ Understaffing Risks</a:t>
            </a:r>
            <a:endParaRPr/>
          </a:p>
        </p:txBody>
      </p:sp>
      <p:sp>
        <p:nvSpPr>
          <p:cNvPr id="95" name="Google Shape;95;p2"/>
          <p:cNvSpPr txBox="1"/>
          <p:nvPr/>
        </p:nvSpPr>
        <p:spPr>
          <a:xfrm>
            <a:off x="457200" y="2011680"/>
            <a:ext cx="384048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• Patient safety concerns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• Staff burnout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• Quality of care issues</a:t>
            </a:r>
            <a:endParaRPr/>
          </a:p>
        </p:txBody>
      </p:sp>
      <p:sp>
        <p:nvSpPr>
          <p:cNvPr id="96" name="Google Shape;96;p2"/>
          <p:cNvSpPr/>
          <p:nvPr/>
        </p:nvSpPr>
        <p:spPr>
          <a:xfrm>
            <a:off x="4754880" y="1371600"/>
            <a:ext cx="4114800" cy="2560320"/>
          </a:xfrm>
          <a:prstGeom prst="roundRect">
            <a:avLst>
              <a:gd fmla="val 16667" name="adj"/>
            </a:avLst>
          </a:prstGeom>
          <a:solidFill>
            <a:srgbClr val="FFF8DC"/>
          </a:solidFill>
          <a:ln cap="flat" cmpd="sng" w="95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2"/>
          <p:cNvSpPr txBox="1"/>
          <p:nvPr/>
        </p:nvSpPr>
        <p:spPr>
          <a:xfrm>
            <a:off x="4937760" y="146304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B47800"/>
                </a:solidFill>
                <a:latin typeface="Calibri"/>
                <a:ea typeface="Calibri"/>
                <a:cs typeface="Calibri"/>
                <a:sym typeface="Calibri"/>
              </a:rPr>
              <a:t>💰 Overstaffing Costs</a:t>
            </a:r>
            <a:endParaRPr/>
          </a:p>
        </p:txBody>
      </p:sp>
      <p:sp>
        <p:nvSpPr>
          <p:cNvPr id="98" name="Google Shape;98;p2"/>
          <p:cNvSpPr txBox="1"/>
          <p:nvPr/>
        </p:nvSpPr>
        <p:spPr>
          <a:xfrm>
            <a:off x="4937760" y="2011680"/>
            <a:ext cx="3840480" cy="10361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• ~25% of operating budget is nursing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• Resource inefficiency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• Budget strain</a:t>
            </a:r>
            <a:endParaRPr/>
          </a:p>
        </p:txBody>
      </p:sp>
      <p:sp>
        <p:nvSpPr>
          <p:cNvPr id="99" name="Google Shape;99;p2"/>
          <p:cNvSpPr/>
          <p:nvPr/>
        </p:nvSpPr>
        <p:spPr>
          <a:xfrm>
            <a:off x="457200" y="4206240"/>
            <a:ext cx="8229600" cy="731520"/>
          </a:xfrm>
          <a:prstGeom prst="roundRect">
            <a:avLst>
              <a:gd fmla="val 16667" name="adj"/>
            </a:avLst>
          </a:prstGeom>
          <a:solidFill>
            <a:srgbClr val="4472C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2"/>
          <p:cNvSpPr txBox="1"/>
          <p:nvPr/>
        </p:nvSpPr>
        <p:spPr>
          <a:xfrm>
            <a:off x="457200" y="429768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COVID-19 exposed critical gaps in capacity forecasting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AdventHealth Orlando: 197 Weeks of Data</a:t>
            </a:r>
            <a:endParaRPr/>
          </a:p>
        </p:txBody>
      </p:sp>
      <p:sp>
        <p:nvSpPr>
          <p:cNvPr id="107" name="Google Shape;107;p3"/>
          <p:cNvSpPr/>
          <p:nvPr/>
        </p:nvSpPr>
        <p:spPr>
          <a:xfrm>
            <a:off x="457200" y="1371600"/>
            <a:ext cx="2743200" cy="1645920"/>
          </a:xfrm>
          <a:prstGeom prst="roundRect">
            <a:avLst>
              <a:gd fmla="val 16667" name="adj"/>
            </a:avLst>
          </a:prstGeom>
          <a:solidFill>
            <a:srgbClr val="DAE8FC"/>
          </a:solidFill>
          <a:ln cap="flat" cmpd="sng" w="9525">
            <a:solidFill>
              <a:srgbClr val="4472C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"/>
          <p:cNvSpPr txBox="1"/>
          <p:nvPr/>
        </p:nvSpPr>
        <p:spPr>
          <a:xfrm>
            <a:off x="457200" y="1463040"/>
            <a:ext cx="2743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197</a:t>
            </a:r>
            <a:endParaRPr/>
          </a:p>
        </p:txBody>
      </p:sp>
      <p:sp>
        <p:nvSpPr>
          <p:cNvPr id="109" name="Google Shape;109;p3"/>
          <p:cNvSpPr txBox="1"/>
          <p:nvPr/>
        </p:nvSpPr>
        <p:spPr>
          <a:xfrm>
            <a:off x="457200" y="2194560"/>
            <a:ext cx="2743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weeks of data</a:t>
            </a:r>
            <a:br>
              <a:rPr b="0" i="0" lang="en-US" sz="14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(July 2020 – April 2024)</a:t>
            </a:r>
            <a:endParaRPr/>
          </a:p>
        </p:txBody>
      </p:sp>
      <p:sp>
        <p:nvSpPr>
          <p:cNvPr id="110" name="Google Shape;110;p3"/>
          <p:cNvSpPr/>
          <p:nvPr/>
        </p:nvSpPr>
        <p:spPr>
          <a:xfrm>
            <a:off x="3383280" y="1371600"/>
            <a:ext cx="2743200" cy="1645920"/>
          </a:xfrm>
          <a:prstGeom prst="roundRect">
            <a:avLst>
              <a:gd fmla="val 16667" name="adj"/>
            </a:avLst>
          </a:prstGeom>
          <a:solidFill>
            <a:srgbClr val="DAE8FC"/>
          </a:solidFill>
          <a:ln cap="flat" cmpd="sng" w="9525">
            <a:solidFill>
              <a:srgbClr val="4472C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3"/>
          <p:cNvSpPr txBox="1"/>
          <p:nvPr/>
        </p:nvSpPr>
        <p:spPr>
          <a:xfrm>
            <a:off x="3383280" y="1463040"/>
            <a:ext cx="2743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~2,254</a:t>
            </a:r>
            <a:endParaRPr/>
          </a:p>
        </p:txBody>
      </p:sp>
      <p:sp>
        <p:nvSpPr>
          <p:cNvPr id="112" name="Google Shape;112;p3"/>
          <p:cNvSpPr txBox="1"/>
          <p:nvPr/>
        </p:nvSpPr>
        <p:spPr>
          <a:xfrm>
            <a:off x="3383280" y="2194560"/>
            <a:ext cx="2743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average bed</a:t>
            </a:r>
            <a:br>
              <a:rPr b="0" i="0" lang="en-US" sz="14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occupancy</a:t>
            </a:r>
            <a:endParaRPr/>
          </a:p>
        </p:txBody>
      </p:sp>
      <p:sp>
        <p:nvSpPr>
          <p:cNvPr id="113" name="Google Shape;113;p3"/>
          <p:cNvSpPr/>
          <p:nvPr/>
        </p:nvSpPr>
        <p:spPr>
          <a:xfrm>
            <a:off x="6309360" y="1371600"/>
            <a:ext cx="2743200" cy="1645920"/>
          </a:xfrm>
          <a:prstGeom prst="roundRect">
            <a:avLst>
              <a:gd fmla="val 16667" name="adj"/>
            </a:avLst>
          </a:prstGeom>
          <a:solidFill>
            <a:srgbClr val="DAE8FC"/>
          </a:solidFill>
          <a:ln cap="flat" cmpd="sng" w="9525">
            <a:solidFill>
              <a:srgbClr val="4472C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3"/>
          <p:cNvSpPr txBox="1"/>
          <p:nvPr/>
        </p:nvSpPr>
        <p:spPr>
          <a:xfrm>
            <a:off x="6309360" y="1463040"/>
            <a:ext cx="2743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Weekly</a:t>
            </a:r>
            <a:endParaRPr/>
          </a:p>
        </p:txBody>
      </p:sp>
      <p:sp>
        <p:nvSpPr>
          <p:cNvPr id="115" name="Google Shape;115;p3"/>
          <p:cNvSpPr txBox="1"/>
          <p:nvPr/>
        </p:nvSpPr>
        <p:spPr>
          <a:xfrm>
            <a:off x="6309360" y="2194560"/>
            <a:ext cx="2743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frequency</a:t>
            </a:r>
            <a:endParaRPr/>
          </a:p>
        </p:txBody>
      </p:sp>
      <p:sp>
        <p:nvSpPr>
          <p:cNvPr id="116" name="Google Shape;116;p3"/>
          <p:cNvSpPr txBox="1"/>
          <p:nvPr/>
        </p:nvSpPr>
        <p:spPr>
          <a:xfrm>
            <a:off x="457200" y="320040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Data Sources</a:t>
            </a:r>
            <a:endParaRPr/>
          </a:p>
        </p:txBody>
      </p:sp>
      <p:graphicFrame>
        <p:nvGraphicFramePr>
          <p:cNvPr id="117" name="Google Shape;117;p3"/>
          <p:cNvGraphicFramePr/>
          <p:nvPr/>
        </p:nvGraphicFramePr>
        <p:xfrm>
          <a:off x="457200" y="356616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{D358D06E-765F-45C7-98DA-DD4853BF9946}</a:tableStyleId>
              </a:tblPr>
              <a:tblGrid>
                <a:gridCol w="2057400"/>
                <a:gridCol w="2057400"/>
              </a:tblGrid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</a:rPr>
                        <a:t>Source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</a:rPr>
                        <a:t>Data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4472C4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404040"/>
                          </a:solidFill>
                        </a:rPr>
                        <a:t>HHS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404040"/>
                          </a:solidFill>
                        </a:rPr>
                        <a:t>Hospital bed occupancy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404040"/>
                          </a:solidFill>
                        </a:rPr>
                        <a:t>CDC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404040"/>
                          </a:solidFill>
                        </a:rPr>
                        <a:t>Flu rates (ILI)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404040"/>
                          </a:solidFill>
                        </a:rPr>
                        <a:t>NOAA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404040"/>
                          </a:solidFill>
                        </a:rPr>
                        <a:t>Weather (temperature)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18" name="Google Shape;118;p3"/>
          <p:cNvSpPr/>
          <p:nvPr/>
        </p:nvSpPr>
        <p:spPr>
          <a:xfrm>
            <a:off x="4754880" y="3200400"/>
            <a:ext cx="4114800" cy="1828800"/>
          </a:xfrm>
          <a:prstGeom prst="rect">
            <a:avLst/>
          </a:prstGeom>
          <a:solidFill>
            <a:srgbClr val="F0F0F0"/>
          </a:solidFill>
          <a:ln cap="flat" cmpd="sng" w="9525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3"/>
          <p:cNvSpPr txBox="1"/>
          <p:nvPr/>
        </p:nvSpPr>
        <p:spPr>
          <a:xfrm>
            <a:off x="4754880" y="3840480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[Insert Time Series Plot]</a:t>
            </a:r>
            <a:endParaRPr/>
          </a:p>
        </p:txBody>
      </p:sp>
      <p:pic>
        <p:nvPicPr>
          <p:cNvPr id="120" name="Google Shape;12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26606" y="3200401"/>
            <a:ext cx="4617394" cy="1828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26279" y="3209131"/>
            <a:ext cx="4572001" cy="181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Strong 52-Week Seasonality Dominates</a:t>
            </a:r>
            <a:endParaRPr/>
          </a:p>
        </p:txBody>
      </p:sp>
      <p:sp>
        <p:nvSpPr>
          <p:cNvPr id="128" name="Google Shape;128;p4"/>
          <p:cNvSpPr/>
          <p:nvPr/>
        </p:nvSpPr>
        <p:spPr>
          <a:xfrm>
            <a:off x="457199" y="1463040"/>
            <a:ext cx="5209310" cy="283464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 txBox="1"/>
          <p:nvPr/>
        </p:nvSpPr>
        <p:spPr>
          <a:xfrm>
            <a:off x="274320" y="265176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[Insert Seasonal Decomposition Plot]</a:t>
            </a:r>
            <a:endParaRPr/>
          </a:p>
        </p:txBody>
      </p:sp>
      <p:sp>
        <p:nvSpPr>
          <p:cNvPr id="130" name="Google Shape;130;p4"/>
          <p:cNvSpPr/>
          <p:nvPr/>
        </p:nvSpPr>
        <p:spPr>
          <a:xfrm>
            <a:off x="5943600" y="1371600"/>
            <a:ext cx="3017520" cy="914400"/>
          </a:xfrm>
          <a:prstGeom prst="roundRect">
            <a:avLst>
              <a:gd fmla="val 16667" name="adj"/>
            </a:avLst>
          </a:prstGeom>
          <a:solidFill>
            <a:srgbClr val="DAE8FC"/>
          </a:solidFill>
          <a:ln cap="flat" cmpd="sng" w="9525">
            <a:solidFill>
              <a:srgbClr val="4472C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4"/>
          <p:cNvSpPr txBox="1"/>
          <p:nvPr/>
        </p:nvSpPr>
        <p:spPr>
          <a:xfrm>
            <a:off x="6035040" y="1417320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📈 Trend</a:t>
            </a:r>
            <a:endParaRPr/>
          </a:p>
        </p:txBody>
      </p:sp>
      <p:sp>
        <p:nvSpPr>
          <p:cNvPr id="132" name="Google Shape;132;p4"/>
          <p:cNvSpPr txBox="1"/>
          <p:nvPr/>
        </p:nvSpPr>
        <p:spPr>
          <a:xfrm>
            <a:off x="6035040" y="1691640"/>
            <a:ext cx="2834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Pandemic dip (2020-21), then</a:t>
            </a:r>
            <a:br>
              <a:rPr b="0" i="0" lang="en-US" sz="11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recovery to ~2,350 (2023)</a:t>
            </a:r>
            <a:endParaRPr/>
          </a:p>
        </p:txBody>
      </p:sp>
      <p:sp>
        <p:nvSpPr>
          <p:cNvPr id="133" name="Google Shape;133;p4"/>
          <p:cNvSpPr/>
          <p:nvPr/>
        </p:nvSpPr>
        <p:spPr>
          <a:xfrm>
            <a:off x="5943600" y="2377440"/>
            <a:ext cx="3017520" cy="914400"/>
          </a:xfrm>
          <a:prstGeom prst="roundRect">
            <a:avLst>
              <a:gd fmla="val 16667" name="adj"/>
            </a:avLst>
          </a:prstGeom>
          <a:solidFill>
            <a:srgbClr val="DAE8FC"/>
          </a:solidFill>
          <a:ln cap="flat" cmpd="sng" w="9525">
            <a:solidFill>
              <a:srgbClr val="4472C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 txBox="1"/>
          <p:nvPr/>
        </p:nvSpPr>
        <p:spPr>
          <a:xfrm>
            <a:off x="6035040" y="2423160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🔄 Seasonal</a:t>
            </a:r>
            <a:endParaRPr/>
          </a:p>
        </p:txBody>
      </p:sp>
      <p:sp>
        <p:nvSpPr>
          <p:cNvPr id="135" name="Google Shape;135;p4"/>
          <p:cNvSpPr txBox="1"/>
          <p:nvPr/>
        </p:nvSpPr>
        <p:spPr>
          <a:xfrm>
            <a:off x="6035040" y="2697480"/>
            <a:ext cx="2834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52-week annual cycle</a:t>
            </a:r>
            <a:br>
              <a:rPr b="0" i="0" lang="en-US" sz="11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(winter peaks, summer troughs)</a:t>
            </a:r>
            <a:endParaRPr/>
          </a:p>
        </p:txBody>
      </p:sp>
      <p:sp>
        <p:nvSpPr>
          <p:cNvPr id="136" name="Google Shape;136;p4"/>
          <p:cNvSpPr/>
          <p:nvPr/>
        </p:nvSpPr>
        <p:spPr>
          <a:xfrm>
            <a:off x="5943600" y="3383280"/>
            <a:ext cx="3017520" cy="914400"/>
          </a:xfrm>
          <a:prstGeom prst="roundRect">
            <a:avLst>
              <a:gd fmla="val 16667" name="adj"/>
            </a:avLst>
          </a:prstGeom>
          <a:solidFill>
            <a:srgbClr val="DAE8FC"/>
          </a:solidFill>
          <a:ln cap="flat" cmpd="sng" w="9525">
            <a:solidFill>
              <a:srgbClr val="4472C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4"/>
          <p:cNvSpPr txBox="1"/>
          <p:nvPr/>
        </p:nvSpPr>
        <p:spPr>
          <a:xfrm>
            <a:off x="6035040" y="3429000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📊 Irregular</a:t>
            </a:r>
            <a:endParaRPr/>
          </a:p>
        </p:txBody>
      </p:sp>
      <p:sp>
        <p:nvSpPr>
          <p:cNvPr id="138" name="Google Shape;138;p4"/>
          <p:cNvSpPr txBox="1"/>
          <p:nvPr/>
        </p:nvSpPr>
        <p:spPr>
          <a:xfrm>
            <a:off x="6035040" y="3703320"/>
            <a:ext cx="2834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COVID waves,</a:t>
            </a:r>
            <a:br>
              <a:rPr b="0" i="0" lang="en-US" sz="11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random variation</a:t>
            </a:r>
            <a:endParaRPr/>
          </a:p>
        </p:txBody>
      </p:sp>
      <p:sp>
        <p:nvSpPr>
          <p:cNvPr id="139" name="Google Shape;139;p4"/>
          <p:cNvSpPr/>
          <p:nvPr/>
        </p:nvSpPr>
        <p:spPr>
          <a:xfrm>
            <a:off x="274320" y="4663440"/>
            <a:ext cx="8595360" cy="548640"/>
          </a:xfrm>
          <a:prstGeom prst="roundRect">
            <a:avLst>
              <a:gd fmla="val 16667" name="adj"/>
            </a:avLst>
          </a:prstGeom>
          <a:solidFill>
            <a:srgbClr val="0080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4"/>
          <p:cNvSpPr txBox="1"/>
          <p:nvPr/>
        </p:nvSpPr>
        <p:spPr>
          <a:xfrm>
            <a:off x="274320" y="4754880"/>
            <a:ext cx="8595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💡 Key Insight: Annual seasonality explains most of the variation</a:t>
            </a:r>
            <a:endParaRPr/>
          </a:p>
        </p:txBody>
      </p:sp>
      <p:pic>
        <p:nvPicPr>
          <p:cNvPr id="141" name="Google Shape;14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199" y="1417320"/>
            <a:ext cx="5209309" cy="28803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5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From Simple Baseline to Deep Learning</a:t>
            </a:r>
            <a:endParaRPr/>
          </a:p>
        </p:txBody>
      </p:sp>
      <p:sp>
        <p:nvSpPr>
          <p:cNvPr id="148" name="Google Shape;148;p5"/>
          <p:cNvSpPr/>
          <p:nvPr/>
        </p:nvSpPr>
        <p:spPr>
          <a:xfrm>
            <a:off x="182880" y="1371600"/>
            <a:ext cx="1645920" cy="2743200"/>
          </a:xfrm>
          <a:prstGeom prst="roundRect">
            <a:avLst>
              <a:gd fmla="val 16667" name="adj"/>
            </a:avLst>
          </a:prstGeom>
          <a:solidFill>
            <a:srgbClr val="C8DCFF"/>
          </a:solidFill>
          <a:ln cap="flat" cmpd="sng" w="9525">
            <a:solidFill>
              <a:srgbClr val="4472C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5"/>
          <p:cNvSpPr txBox="1"/>
          <p:nvPr/>
        </p:nvSpPr>
        <p:spPr>
          <a:xfrm>
            <a:off x="182880" y="1463040"/>
            <a:ext cx="1645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Seasonal</a:t>
            </a:r>
            <a:br>
              <a:rPr b="1" i="0" lang="en-US" sz="16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6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Naive</a:t>
            </a:r>
            <a:endParaRPr/>
          </a:p>
        </p:txBody>
      </p:sp>
      <p:sp>
        <p:nvSpPr>
          <p:cNvPr id="150" name="Google Shape;150;p5"/>
          <p:cNvSpPr/>
          <p:nvPr/>
        </p:nvSpPr>
        <p:spPr>
          <a:xfrm>
            <a:off x="365760" y="2194560"/>
            <a:ext cx="1280160" cy="320040"/>
          </a:xfrm>
          <a:prstGeom prst="roundRect">
            <a:avLst>
              <a:gd fmla="val 16667" name="adj"/>
            </a:avLst>
          </a:prstGeom>
          <a:solidFill>
            <a:srgbClr val="4472C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5"/>
          <p:cNvSpPr txBox="1"/>
          <p:nvPr/>
        </p:nvSpPr>
        <p:spPr>
          <a:xfrm>
            <a:off x="365760" y="224028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Baseline</a:t>
            </a:r>
            <a:endParaRPr/>
          </a:p>
        </p:txBody>
      </p:sp>
      <p:sp>
        <p:nvSpPr>
          <p:cNvPr id="152" name="Google Shape;152;p5"/>
          <p:cNvSpPr txBox="1"/>
          <p:nvPr/>
        </p:nvSpPr>
        <p:spPr>
          <a:xfrm>
            <a:off x="274320" y="2651760"/>
            <a:ext cx="14630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Same week last year</a:t>
            </a:r>
            <a:endParaRPr/>
          </a:p>
        </p:txBody>
      </p:sp>
      <p:sp>
        <p:nvSpPr>
          <p:cNvPr id="153" name="Google Shape;153;p5"/>
          <p:cNvSpPr/>
          <p:nvPr/>
        </p:nvSpPr>
        <p:spPr>
          <a:xfrm>
            <a:off x="1920240" y="1371600"/>
            <a:ext cx="1645920" cy="2743200"/>
          </a:xfrm>
          <a:prstGeom prst="roundRect">
            <a:avLst>
              <a:gd fmla="val 16667" name="adj"/>
            </a:avLst>
          </a:prstGeom>
          <a:solidFill>
            <a:srgbClr val="AABEFF"/>
          </a:solidFill>
          <a:ln cap="flat" cmpd="sng" w="9525">
            <a:solidFill>
              <a:srgbClr val="4472C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5"/>
          <p:cNvSpPr txBox="1"/>
          <p:nvPr/>
        </p:nvSpPr>
        <p:spPr>
          <a:xfrm>
            <a:off x="1920240" y="1463040"/>
            <a:ext cx="1645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SARIMAX</a:t>
            </a:r>
            <a:endParaRPr/>
          </a:p>
        </p:txBody>
      </p:sp>
      <p:sp>
        <p:nvSpPr>
          <p:cNvPr id="155" name="Google Shape;155;p5"/>
          <p:cNvSpPr/>
          <p:nvPr/>
        </p:nvSpPr>
        <p:spPr>
          <a:xfrm>
            <a:off x="2103120" y="2194560"/>
            <a:ext cx="1280160" cy="320040"/>
          </a:xfrm>
          <a:prstGeom prst="roundRect">
            <a:avLst>
              <a:gd fmla="val 16667" name="adj"/>
            </a:avLst>
          </a:prstGeom>
          <a:solidFill>
            <a:srgbClr val="4472C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5"/>
          <p:cNvSpPr txBox="1"/>
          <p:nvPr/>
        </p:nvSpPr>
        <p:spPr>
          <a:xfrm>
            <a:off x="2103120" y="224028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Classical</a:t>
            </a:r>
            <a:endParaRPr/>
          </a:p>
        </p:txBody>
      </p:sp>
      <p:sp>
        <p:nvSpPr>
          <p:cNvPr id="157" name="Google Shape;157;p5"/>
          <p:cNvSpPr txBox="1"/>
          <p:nvPr/>
        </p:nvSpPr>
        <p:spPr>
          <a:xfrm>
            <a:off x="2011680" y="2651760"/>
            <a:ext cx="14630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ARIMA + seasonality</a:t>
            </a:r>
            <a:br>
              <a:rPr b="0" i="0" lang="en-US" sz="11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+ external factors</a:t>
            </a:r>
            <a:endParaRPr/>
          </a:p>
        </p:txBody>
      </p:sp>
      <p:sp>
        <p:nvSpPr>
          <p:cNvPr id="158" name="Google Shape;158;p5"/>
          <p:cNvSpPr/>
          <p:nvPr/>
        </p:nvSpPr>
        <p:spPr>
          <a:xfrm>
            <a:off x="3657600" y="1371600"/>
            <a:ext cx="1645920" cy="2743200"/>
          </a:xfrm>
          <a:prstGeom prst="roundRect">
            <a:avLst>
              <a:gd fmla="val 16667" name="adj"/>
            </a:avLst>
          </a:prstGeom>
          <a:solidFill>
            <a:srgbClr val="8CA0FF"/>
          </a:solidFill>
          <a:ln cap="flat" cmpd="sng" w="9525">
            <a:solidFill>
              <a:srgbClr val="4472C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5"/>
          <p:cNvSpPr txBox="1"/>
          <p:nvPr/>
        </p:nvSpPr>
        <p:spPr>
          <a:xfrm>
            <a:off x="3657600" y="1463040"/>
            <a:ext cx="1645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Structural</a:t>
            </a:r>
            <a:endParaRPr/>
          </a:p>
        </p:txBody>
      </p:sp>
      <p:sp>
        <p:nvSpPr>
          <p:cNvPr id="160" name="Google Shape;160;p5"/>
          <p:cNvSpPr/>
          <p:nvPr/>
        </p:nvSpPr>
        <p:spPr>
          <a:xfrm>
            <a:off x="3840480" y="2194560"/>
            <a:ext cx="1280160" cy="320040"/>
          </a:xfrm>
          <a:prstGeom prst="roundRect">
            <a:avLst>
              <a:gd fmla="val 16667" name="adj"/>
            </a:avLst>
          </a:prstGeom>
          <a:solidFill>
            <a:srgbClr val="4472C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5"/>
          <p:cNvSpPr txBox="1"/>
          <p:nvPr/>
        </p:nvSpPr>
        <p:spPr>
          <a:xfrm>
            <a:off x="3840480" y="224028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State-Space</a:t>
            </a:r>
            <a:endParaRPr/>
          </a:p>
        </p:txBody>
      </p:sp>
      <p:sp>
        <p:nvSpPr>
          <p:cNvPr id="162" name="Google Shape;162;p5"/>
          <p:cNvSpPr txBox="1"/>
          <p:nvPr/>
        </p:nvSpPr>
        <p:spPr>
          <a:xfrm>
            <a:off x="3749040" y="2651760"/>
            <a:ext cx="14630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Explicit trend +</a:t>
            </a:r>
            <a:br>
              <a:rPr b="0" i="0" lang="en-US" sz="11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seasonal components</a:t>
            </a:r>
            <a:endParaRPr/>
          </a:p>
        </p:txBody>
      </p:sp>
      <p:sp>
        <p:nvSpPr>
          <p:cNvPr id="163" name="Google Shape;163;p5"/>
          <p:cNvSpPr/>
          <p:nvPr/>
        </p:nvSpPr>
        <p:spPr>
          <a:xfrm>
            <a:off x="5394960" y="1371600"/>
            <a:ext cx="1645920" cy="2743200"/>
          </a:xfrm>
          <a:prstGeom prst="roundRect">
            <a:avLst>
              <a:gd fmla="val 16667" name="adj"/>
            </a:avLst>
          </a:prstGeom>
          <a:solidFill>
            <a:srgbClr val="6E82FF"/>
          </a:solidFill>
          <a:ln cap="flat" cmpd="sng" w="9525">
            <a:solidFill>
              <a:srgbClr val="4472C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5"/>
          <p:cNvSpPr txBox="1"/>
          <p:nvPr/>
        </p:nvSpPr>
        <p:spPr>
          <a:xfrm>
            <a:off x="5394960" y="1463040"/>
            <a:ext cx="1645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VAR</a:t>
            </a:r>
            <a:endParaRPr/>
          </a:p>
        </p:txBody>
      </p:sp>
      <p:sp>
        <p:nvSpPr>
          <p:cNvPr id="165" name="Google Shape;165;p5"/>
          <p:cNvSpPr/>
          <p:nvPr/>
        </p:nvSpPr>
        <p:spPr>
          <a:xfrm>
            <a:off x="5577840" y="2194560"/>
            <a:ext cx="1280160" cy="320040"/>
          </a:xfrm>
          <a:prstGeom prst="roundRect">
            <a:avLst>
              <a:gd fmla="val 16667" name="adj"/>
            </a:avLst>
          </a:prstGeom>
          <a:solidFill>
            <a:srgbClr val="4472C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5"/>
          <p:cNvSpPr txBox="1"/>
          <p:nvPr/>
        </p:nvSpPr>
        <p:spPr>
          <a:xfrm>
            <a:off x="5577840" y="224028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Multivariate</a:t>
            </a:r>
            <a:endParaRPr/>
          </a:p>
        </p:txBody>
      </p:sp>
      <p:sp>
        <p:nvSpPr>
          <p:cNvPr id="167" name="Google Shape;167;p5"/>
          <p:cNvSpPr txBox="1"/>
          <p:nvPr/>
        </p:nvSpPr>
        <p:spPr>
          <a:xfrm>
            <a:off x="5486400" y="2651760"/>
            <a:ext cx="14630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Joint dynamics</a:t>
            </a:r>
            <a:br>
              <a:rPr b="0" i="0" lang="en-US" sz="11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with COVID %</a:t>
            </a:r>
            <a:endParaRPr/>
          </a:p>
        </p:txBody>
      </p:sp>
      <p:sp>
        <p:nvSpPr>
          <p:cNvPr id="168" name="Google Shape;168;p5"/>
          <p:cNvSpPr/>
          <p:nvPr/>
        </p:nvSpPr>
        <p:spPr>
          <a:xfrm>
            <a:off x="7132320" y="1371600"/>
            <a:ext cx="1645920" cy="2743200"/>
          </a:xfrm>
          <a:prstGeom prst="roundRect">
            <a:avLst>
              <a:gd fmla="val 16667" name="adj"/>
            </a:avLst>
          </a:prstGeom>
          <a:solidFill>
            <a:srgbClr val="5064FF"/>
          </a:solidFill>
          <a:ln cap="flat" cmpd="sng" w="9525">
            <a:solidFill>
              <a:srgbClr val="4472C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5"/>
          <p:cNvSpPr txBox="1"/>
          <p:nvPr/>
        </p:nvSpPr>
        <p:spPr>
          <a:xfrm>
            <a:off x="7132320" y="1463040"/>
            <a:ext cx="1645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LSTM</a:t>
            </a:r>
            <a:endParaRPr/>
          </a:p>
        </p:txBody>
      </p:sp>
      <p:sp>
        <p:nvSpPr>
          <p:cNvPr id="170" name="Google Shape;170;p5"/>
          <p:cNvSpPr/>
          <p:nvPr/>
        </p:nvSpPr>
        <p:spPr>
          <a:xfrm>
            <a:off x="7315200" y="2194560"/>
            <a:ext cx="1280160" cy="320040"/>
          </a:xfrm>
          <a:prstGeom prst="roundRect">
            <a:avLst>
              <a:gd fmla="val 16667" name="adj"/>
            </a:avLst>
          </a:prstGeom>
          <a:solidFill>
            <a:srgbClr val="4472C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5"/>
          <p:cNvSpPr txBox="1"/>
          <p:nvPr/>
        </p:nvSpPr>
        <p:spPr>
          <a:xfrm>
            <a:off x="7315200" y="224028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Deep Learning</a:t>
            </a:r>
            <a:endParaRPr/>
          </a:p>
        </p:txBody>
      </p:sp>
      <p:sp>
        <p:nvSpPr>
          <p:cNvPr id="172" name="Google Shape;172;p5"/>
          <p:cNvSpPr txBox="1"/>
          <p:nvPr/>
        </p:nvSpPr>
        <p:spPr>
          <a:xfrm>
            <a:off x="7223760" y="2651760"/>
            <a:ext cx="14630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Neural network</a:t>
            </a:r>
            <a:br>
              <a:rPr b="0" i="0" lang="en-US" sz="11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for sequences</a:t>
            </a:r>
            <a:endParaRPr/>
          </a:p>
        </p:txBody>
      </p:sp>
      <p:sp>
        <p:nvSpPr>
          <p:cNvPr id="173" name="Google Shape;173;p5"/>
          <p:cNvSpPr txBox="1"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← Simpler                                                     More Complex →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6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6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Rolling Forecast with Adaptive Retraining</a:t>
            </a:r>
            <a:endParaRPr/>
          </a:p>
        </p:txBody>
      </p:sp>
      <p:sp>
        <p:nvSpPr>
          <p:cNvPr id="180" name="Google Shape;180;p6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6"/>
          <p:cNvSpPr/>
          <p:nvPr/>
        </p:nvSpPr>
        <p:spPr>
          <a:xfrm>
            <a:off x="640080" y="1737360"/>
            <a:ext cx="5029200" cy="457200"/>
          </a:xfrm>
          <a:prstGeom prst="rect">
            <a:avLst/>
          </a:prstGeom>
          <a:solidFill>
            <a:srgbClr val="4472C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6"/>
          <p:cNvSpPr txBox="1"/>
          <p:nvPr/>
        </p:nvSpPr>
        <p:spPr>
          <a:xfrm>
            <a:off x="640080" y="178308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Training: 157 weeks (80%)</a:t>
            </a:r>
            <a:endParaRPr/>
          </a:p>
        </p:txBody>
      </p:sp>
      <p:sp>
        <p:nvSpPr>
          <p:cNvPr id="183" name="Google Shape;183;p6"/>
          <p:cNvSpPr/>
          <p:nvPr/>
        </p:nvSpPr>
        <p:spPr>
          <a:xfrm>
            <a:off x="5760720" y="1737360"/>
            <a:ext cx="2743200" cy="457200"/>
          </a:xfrm>
          <a:prstGeom prst="rect">
            <a:avLst/>
          </a:prstGeom>
          <a:solidFill>
            <a:srgbClr val="0080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6"/>
          <p:cNvSpPr txBox="1"/>
          <p:nvPr/>
        </p:nvSpPr>
        <p:spPr>
          <a:xfrm>
            <a:off x="5760720" y="178308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Test: 40 weeks (20%)</a:t>
            </a:r>
            <a:endParaRPr/>
          </a:p>
        </p:txBody>
      </p:sp>
      <p:sp>
        <p:nvSpPr>
          <p:cNvPr id="185" name="Google Shape;185;p6"/>
          <p:cNvSpPr txBox="1"/>
          <p:nvPr/>
        </p:nvSpPr>
        <p:spPr>
          <a:xfrm>
            <a:off x="640080" y="228600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2020</a:t>
            </a:r>
            <a:endParaRPr/>
          </a:p>
        </p:txBody>
      </p:sp>
      <p:sp>
        <p:nvSpPr>
          <p:cNvPr id="186" name="Google Shape;186;p6"/>
          <p:cNvSpPr txBox="1"/>
          <p:nvPr/>
        </p:nvSpPr>
        <p:spPr>
          <a:xfrm>
            <a:off x="2560320" y="228600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2021</a:t>
            </a:r>
            <a:endParaRPr/>
          </a:p>
        </p:txBody>
      </p:sp>
      <p:sp>
        <p:nvSpPr>
          <p:cNvPr id="187" name="Google Shape;187;p6"/>
          <p:cNvSpPr txBox="1"/>
          <p:nvPr/>
        </p:nvSpPr>
        <p:spPr>
          <a:xfrm>
            <a:off x="4480560" y="228600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2022</a:t>
            </a:r>
            <a:endParaRPr/>
          </a:p>
        </p:txBody>
      </p:sp>
      <p:sp>
        <p:nvSpPr>
          <p:cNvPr id="188" name="Google Shape;188;p6"/>
          <p:cNvSpPr txBox="1"/>
          <p:nvPr/>
        </p:nvSpPr>
        <p:spPr>
          <a:xfrm>
            <a:off x="6400800" y="228600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2023</a:t>
            </a:r>
            <a:endParaRPr/>
          </a:p>
        </p:txBody>
      </p:sp>
      <p:sp>
        <p:nvSpPr>
          <p:cNvPr id="189" name="Google Shape;189;p6"/>
          <p:cNvSpPr txBox="1"/>
          <p:nvPr/>
        </p:nvSpPr>
        <p:spPr>
          <a:xfrm>
            <a:off x="8321040" y="228600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2024</a:t>
            </a:r>
            <a:endParaRPr/>
          </a:p>
        </p:txBody>
      </p:sp>
      <p:sp>
        <p:nvSpPr>
          <p:cNvPr id="190" name="Google Shape;190;p6"/>
          <p:cNvSpPr/>
          <p:nvPr/>
        </p:nvSpPr>
        <p:spPr>
          <a:xfrm>
            <a:off x="457200" y="2926080"/>
            <a:ext cx="4114800" cy="1828800"/>
          </a:xfrm>
          <a:prstGeom prst="roundRect">
            <a:avLst>
              <a:gd fmla="val 16667" name="adj"/>
            </a:avLst>
          </a:prstGeom>
          <a:solidFill>
            <a:srgbClr val="DAE8FC"/>
          </a:solidFill>
          <a:ln cap="flat" cmpd="sng" w="9525">
            <a:solidFill>
              <a:srgbClr val="4472C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6"/>
          <p:cNvSpPr txBox="1"/>
          <p:nvPr/>
        </p:nvSpPr>
        <p:spPr>
          <a:xfrm>
            <a:off x="640080" y="301752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Key Parameters</a:t>
            </a:r>
            <a:endParaRPr/>
          </a:p>
        </p:txBody>
      </p:sp>
      <p:sp>
        <p:nvSpPr>
          <p:cNvPr id="192" name="Google Shape;192;p6"/>
          <p:cNvSpPr txBox="1"/>
          <p:nvPr/>
        </p:nvSpPr>
        <p:spPr>
          <a:xfrm>
            <a:off x="640080" y="3474720"/>
            <a:ext cx="38404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• Train/Test Split: 80/20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• Forecast Horizon: 4 weeks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• Retraining: Every 2 weeks + error-triggered</a:t>
            </a:r>
            <a:endParaRPr/>
          </a:p>
        </p:txBody>
      </p:sp>
      <p:sp>
        <p:nvSpPr>
          <p:cNvPr id="193" name="Google Shape;193;p6"/>
          <p:cNvSpPr/>
          <p:nvPr/>
        </p:nvSpPr>
        <p:spPr>
          <a:xfrm>
            <a:off x="4754880" y="3200400"/>
            <a:ext cx="4114800" cy="1371600"/>
          </a:xfrm>
          <a:prstGeom prst="roundRect">
            <a:avLst>
              <a:gd fmla="val 16667" name="adj"/>
            </a:avLst>
          </a:prstGeom>
          <a:solidFill>
            <a:srgbClr val="FFF8DC"/>
          </a:solidFill>
          <a:ln cap="flat" cmpd="sng" w="95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6"/>
          <p:cNvSpPr txBox="1"/>
          <p:nvPr/>
        </p:nvSpPr>
        <p:spPr>
          <a:xfrm>
            <a:off x="4937760" y="3474720"/>
            <a:ext cx="3749039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💡 Simulates real-world deployment conditions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7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7"/>
          <p:cNvSpPr txBox="1"/>
          <p:nvPr/>
        </p:nvSpPr>
        <p:spPr>
          <a:xfrm>
            <a:off x="457200" y="274320"/>
            <a:ext cx="8229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 Comparison</a:t>
            </a:r>
            <a:r>
              <a:rPr b="1" lang="en-US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Test Set Performance</a:t>
            </a:r>
            <a:endParaRPr/>
          </a:p>
        </p:txBody>
      </p:sp>
      <p:graphicFrame>
        <p:nvGraphicFramePr>
          <p:cNvPr id="201" name="Google Shape;201;p7"/>
          <p:cNvGraphicFramePr/>
          <p:nvPr/>
        </p:nvGraphicFramePr>
        <p:xfrm>
          <a:off x="457200" y="1371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{D358D06E-765F-45C7-98DA-DD4853BF9946}</a:tableStyleId>
              </a:tblPr>
              <a:tblGrid>
                <a:gridCol w="2011675"/>
                <a:gridCol w="1371600"/>
                <a:gridCol w="1554475"/>
                <a:gridCol w="1645925"/>
                <a:gridCol w="164592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Model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</a:rPr>
                        <a:t>MAE (%)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</a:rPr>
                        <a:t>RMSE (%)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</a:rPr>
                        <a:t>Bias (%)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</a:rPr>
                        <a:t>Rank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03366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Structural ★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CFF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000000"/>
                          </a:solidFill>
                        </a:rPr>
                        <a:t>1.75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CFF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000000"/>
                          </a:solidFill>
                        </a:rPr>
                        <a:t>2.21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CFF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000000"/>
                          </a:solidFill>
                        </a:rPr>
                        <a:t>-0.04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CFF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000000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CFFD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000000"/>
                          </a:solidFill>
                        </a:rPr>
                        <a:t>Baseline (SN52)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C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1.81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C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000000"/>
                          </a:solidFill>
                        </a:rPr>
                        <a:t>2.35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C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000000"/>
                          </a:solidFill>
                        </a:rPr>
                        <a:t>-0.22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C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000000"/>
                          </a:solidFill>
                        </a:rPr>
                        <a:t>2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C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000000"/>
                          </a:solidFill>
                        </a:rPr>
                        <a:t>LSTM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000000"/>
                          </a:solidFill>
                        </a:rPr>
                        <a:t>1.97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2.31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000000"/>
                          </a:solidFill>
                        </a:rPr>
                        <a:t>+0.47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000000"/>
                          </a:solidFill>
                        </a:rPr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000000"/>
                          </a:solidFill>
                        </a:rPr>
                        <a:t>SARIMAX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000000"/>
                          </a:solidFill>
                        </a:rPr>
                        <a:t>2.07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2.59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-0.40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000000"/>
                          </a:solidFill>
                        </a:rPr>
                        <a:t>4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000000"/>
                          </a:solidFill>
                        </a:rPr>
                        <a:t>VAR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000000"/>
                          </a:solidFill>
                        </a:rPr>
                        <a:t>2.97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000000"/>
                          </a:solidFill>
                        </a:rPr>
                        <a:t>3.83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+1.30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5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202" name="Google Shape;202;p7"/>
          <p:cNvSpPr txBox="1"/>
          <p:nvPr/>
        </p:nvSpPr>
        <p:spPr>
          <a:xfrm>
            <a:off x="457200" y="3749039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Errors shown as % of mean occupancy (~2,254 beds)</a:t>
            </a:r>
            <a:endParaRPr/>
          </a:p>
        </p:txBody>
      </p:sp>
      <p:sp>
        <p:nvSpPr>
          <p:cNvPr id="203" name="Google Shape;203;p7"/>
          <p:cNvSpPr/>
          <p:nvPr/>
        </p:nvSpPr>
        <p:spPr>
          <a:xfrm>
            <a:off x="457200" y="4114800"/>
            <a:ext cx="8229600" cy="731520"/>
          </a:xfrm>
          <a:prstGeom prst="roundRect">
            <a:avLst>
              <a:gd fmla="val 16667" name="adj"/>
            </a:avLst>
          </a:prstGeom>
          <a:solidFill>
            <a:srgbClr val="0080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7"/>
          <p:cNvSpPr txBox="1"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✅ All models achieve &lt; 3% error = Excellent performance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8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8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We Learned</a:t>
            </a:r>
            <a:endParaRPr/>
          </a:p>
        </p:txBody>
      </p:sp>
      <p:sp>
        <p:nvSpPr>
          <p:cNvPr id="211" name="Google Shape;211;p8"/>
          <p:cNvSpPr/>
          <p:nvPr/>
        </p:nvSpPr>
        <p:spPr>
          <a:xfrm>
            <a:off x="274320" y="1371600"/>
            <a:ext cx="4297680" cy="1645920"/>
          </a:xfrm>
          <a:prstGeom prst="roundRect">
            <a:avLst>
              <a:gd fmla="val 16667" name="adj"/>
            </a:avLst>
          </a:prstGeom>
          <a:solidFill>
            <a:srgbClr val="DAE8FC"/>
          </a:solidFill>
          <a:ln cap="flat" cmpd="sng" w="9525">
            <a:solidFill>
              <a:srgbClr val="4472C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8"/>
          <p:cNvSpPr txBox="1"/>
          <p:nvPr/>
        </p:nvSpPr>
        <p:spPr>
          <a:xfrm>
            <a:off x="365760" y="1463040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📊 Strong Seasonality Dominates</a:t>
            </a:r>
            <a:endParaRPr/>
          </a:p>
        </p:txBody>
      </p:sp>
      <p:sp>
        <p:nvSpPr>
          <p:cNvPr id="213" name="Google Shape;213;p8"/>
          <p:cNvSpPr txBox="1"/>
          <p:nvPr/>
        </p:nvSpPr>
        <p:spPr>
          <a:xfrm>
            <a:off x="365760" y="1874519"/>
            <a:ext cx="41148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52-week pattern explains most variation</a:t>
            </a:r>
            <a:br>
              <a:rPr b="0" i="0" lang="en-US" sz="12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"Same week last year" is surprisingly accurate</a:t>
            </a:r>
            <a:endParaRPr/>
          </a:p>
        </p:txBody>
      </p:sp>
      <p:sp>
        <p:nvSpPr>
          <p:cNvPr id="214" name="Google Shape;214;p8"/>
          <p:cNvSpPr/>
          <p:nvPr/>
        </p:nvSpPr>
        <p:spPr>
          <a:xfrm>
            <a:off x="4572000" y="1371600"/>
            <a:ext cx="4297680" cy="1645920"/>
          </a:xfrm>
          <a:prstGeom prst="roundRect">
            <a:avLst>
              <a:gd fmla="val 16667" name="adj"/>
            </a:avLst>
          </a:prstGeom>
          <a:solidFill>
            <a:srgbClr val="DCFFDC"/>
          </a:solidFill>
          <a:ln cap="flat" cmpd="sng" w="9525">
            <a:solidFill>
              <a:srgbClr val="4472C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8"/>
          <p:cNvSpPr txBox="1"/>
          <p:nvPr/>
        </p:nvSpPr>
        <p:spPr>
          <a:xfrm>
            <a:off x="4663440" y="1463040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🏆 Structural Model Wins</a:t>
            </a:r>
            <a:endParaRPr/>
          </a:p>
        </p:txBody>
      </p:sp>
      <p:sp>
        <p:nvSpPr>
          <p:cNvPr id="216" name="Google Shape;216;p8"/>
          <p:cNvSpPr txBox="1"/>
          <p:nvPr/>
        </p:nvSpPr>
        <p:spPr>
          <a:xfrm>
            <a:off x="4663440" y="1874519"/>
            <a:ext cx="41148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Best accuracy + near-zero bias</a:t>
            </a:r>
            <a:br>
              <a:rPr b="0" i="0" lang="en-US" sz="12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Directly models trend + seasonality</a:t>
            </a:r>
            <a:endParaRPr/>
          </a:p>
        </p:txBody>
      </p:sp>
      <p:sp>
        <p:nvSpPr>
          <p:cNvPr id="217" name="Google Shape;217;p8"/>
          <p:cNvSpPr/>
          <p:nvPr/>
        </p:nvSpPr>
        <p:spPr>
          <a:xfrm>
            <a:off x="274320" y="3200400"/>
            <a:ext cx="4297680" cy="1645920"/>
          </a:xfrm>
          <a:prstGeom prst="roundRect">
            <a:avLst>
              <a:gd fmla="val 16667" name="adj"/>
            </a:avLst>
          </a:prstGeom>
          <a:solidFill>
            <a:srgbClr val="FFF8DC"/>
          </a:solidFill>
          <a:ln cap="flat" cmpd="sng" w="9525">
            <a:solidFill>
              <a:srgbClr val="4472C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8"/>
          <p:cNvSpPr txBox="1"/>
          <p:nvPr/>
        </p:nvSpPr>
        <p:spPr>
          <a:xfrm>
            <a:off x="365760" y="3291840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⚠️ Complexity ≠ Accuracy</a:t>
            </a:r>
            <a:endParaRPr/>
          </a:p>
        </p:txBody>
      </p:sp>
      <p:sp>
        <p:nvSpPr>
          <p:cNvPr id="219" name="Google Shape;219;p8"/>
          <p:cNvSpPr txBox="1"/>
          <p:nvPr/>
        </p:nvSpPr>
        <p:spPr>
          <a:xfrm>
            <a:off x="365760" y="3703320"/>
            <a:ext cx="41148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VAR multivariate approach underperformed</a:t>
            </a:r>
            <a:br>
              <a:rPr b="0" i="0" lang="en-US" sz="12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LSTM showed no clear advantage</a:t>
            </a:r>
            <a:endParaRPr/>
          </a:p>
        </p:txBody>
      </p:sp>
      <p:sp>
        <p:nvSpPr>
          <p:cNvPr id="220" name="Google Shape;220;p8"/>
          <p:cNvSpPr/>
          <p:nvPr/>
        </p:nvSpPr>
        <p:spPr>
          <a:xfrm>
            <a:off x="4572000" y="3200400"/>
            <a:ext cx="4297680" cy="1645920"/>
          </a:xfrm>
          <a:prstGeom prst="roundRect">
            <a:avLst>
              <a:gd fmla="val 16667" name="adj"/>
            </a:avLst>
          </a:prstGeom>
          <a:solidFill>
            <a:srgbClr val="F0F0FF"/>
          </a:solidFill>
          <a:ln cap="flat" cmpd="sng" w="9525">
            <a:solidFill>
              <a:srgbClr val="4472C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8"/>
          <p:cNvSpPr txBox="1"/>
          <p:nvPr/>
        </p:nvSpPr>
        <p:spPr>
          <a:xfrm>
            <a:off x="4663440" y="3291840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📈 External Factors: Modest Impact</a:t>
            </a:r>
            <a:endParaRPr/>
          </a:p>
        </p:txBody>
      </p:sp>
      <p:sp>
        <p:nvSpPr>
          <p:cNvPr id="222" name="Google Shape;222;p8"/>
          <p:cNvSpPr txBox="1"/>
          <p:nvPr/>
        </p:nvSpPr>
        <p:spPr>
          <a:xfrm>
            <a:off x="4663440" y="3703320"/>
            <a:ext cx="41148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Flu rates and weather provide marginal improvement</a:t>
            </a:r>
            <a:br>
              <a:rPr b="0" i="0" lang="en-US" sz="12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Internal patterns dominate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9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9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This Means for Hospital Operations</a:t>
            </a:r>
            <a:endParaRPr/>
          </a:p>
        </p:txBody>
      </p:sp>
      <p:sp>
        <p:nvSpPr>
          <p:cNvPr id="229" name="Google Shape;229;p9"/>
          <p:cNvSpPr/>
          <p:nvPr/>
        </p:nvSpPr>
        <p:spPr>
          <a:xfrm>
            <a:off x="274320" y="1371600"/>
            <a:ext cx="4023360" cy="2560320"/>
          </a:xfrm>
          <a:prstGeom prst="roundRect">
            <a:avLst>
              <a:gd fmla="val 16667" name="adj"/>
            </a:avLst>
          </a:prstGeom>
          <a:solidFill>
            <a:srgbClr val="DCFFDC"/>
          </a:solidFill>
          <a:ln cap="flat" cmpd="sng" w="9525">
            <a:solidFill>
              <a:srgbClr val="008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9"/>
          <p:cNvSpPr txBox="1"/>
          <p:nvPr/>
        </p:nvSpPr>
        <p:spPr>
          <a:xfrm>
            <a:off x="457200" y="146304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✓ Recommended: Structural Model</a:t>
            </a:r>
            <a:endParaRPr/>
          </a:p>
        </p:txBody>
      </p:sp>
      <p:sp>
        <p:nvSpPr>
          <p:cNvPr id="231" name="Google Shape;231;p9"/>
          <p:cNvSpPr txBox="1"/>
          <p:nvPr/>
        </p:nvSpPr>
        <p:spPr>
          <a:xfrm>
            <a:off x="457200" y="1920240"/>
            <a:ext cx="384048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• 1.75% MAE (~41 beds average error)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• Near-zero bias (well-calibrated)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• Confidence intervals for planning</a:t>
            </a:r>
            <a:endParaRPr/>
          </a:p>
        </p:txBody>
      </p:sp>
      <p:sp>
        <p:nvSpPr>
          <p:cNvPr id="232" name="Google Shape;232;p9"/>
          <p:cNvSpPr txBox="1"/>
          <p:nvPr/>
        </p:nvSpPr>
        <p:spPr>
          <a:xfrm>
            <a:off x="4572000" y="1371600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Applications</a:t>
            </a:r>
            <a:endParaRPr/>
          </a:p>
        </p:txBody>
      </p:sp>
      <p:graphicFrame>
        <p:nvGraphicFramePr>
          <p:cNvPr id="233" name="Google Shape;233;p9"/>
          <p:cNvGraphicFramePr/>
          <p:nvPr/>
        </p:nvGraphicFramePr>
        <p:xfrm>
          <a:off x="4572000" y="173736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{D358D06E-765F-45C7-98DA-DD4853BF9946}</a:tableStyleId>
              </a:tblPr>
              <a:tblGrid>
                <a:gridCol w="2148850"/>
                <a:gridCol w="2148850"/>
              </a:tblGrid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</a:rPr>
                        <a:t>Application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</a:rPr>
                        <a:t>How It Helps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4472C4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404040"/>
                          </a:solidFill>
                        </a:rPr>
                        <a:t>Nurse Scheduling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404040"/>
                          </a:solidFill>
                        </a:rPr>
                        <a:t>Plan staffing 4-8 weeks ahead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404040"/>
                          </a:solidFill>
                        </a:rPr>
                        <a:t>Resource Planning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404040"/>
                          </a:solidFill>
                        </a:rPr>
                        <a:t>Anticipate supply needs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404040"/>
                          </a:solidFill>
                        </a:rPr>
                        <a:t>Budget Forecasting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404040"/>
                          </a:solidFill>
                        </a:rPr>
                        <a:t>Project labor costs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404040"/>
                          </a:solidFill>
                        </a:rPr>
                        <a:t>Surge Alerts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404040"/>
                          </a:solidFill>
                        </a:rPr>
                        <a:t>Flag high-risk weeks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234" name="Google Shape;234;p9"/>
          <p:cNvSpPr/>
          <p:nvPr/>
        </p:nvSpPr>
        <p:spPr>
          <a:xfrm>
            <a:off x="274320" y="4114800"/>
            <a:ext cx="8595360" cy="731520"/>
          </a:xfrm>
          <a:prstGeom prst="roundRect">
            <a:avLst>
              <a:gd fmla="val 16667" name="adj"/>
            </a:avLst>
          </a:prstGeom>
          <a:solidFill>
            <a:srgbClr val="FFF8DC"/>
          </a:solidFill>
          <a:ln cap="flat" cmpd="sng" w="95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9"/>
          <p:cNvSpPr txBox="1"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💡 Tip: Keep Seasonal Naive as sanity check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336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0"/>
          <p:cNvSpPr txBox="1"/>
          <p:nvPr/>
        </p:nvSpPr>
        <p:spPr>
          <a:xfrm>
            <a:off x="457200" y="222170"/>
            <a:ext cx="8229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Summary </a:t>
            </a:r>
            <a:r>
              <a:rPr b="1" lang="en-US"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&amp; Future Directions</a:t>
            </a:r>
            <a:endParaRPr/>
          </a:p>
        </p:txBody>
      </p:sp>
      <p:sp>
        <p:nvSpPr>
          <p:cNvPr id="242" name="Google Shape;242;p10"/>
          <p:cNvSpPr/>
          <p:nvPr/>
        </p:nvSpPr>
        <p:spPr>
          <a:xfrm>
            <a:off x="457200" y="1097280"/>
            <a:ext cx="8229600" cy="1143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0"/>
          <p:cNvSpPr txBox="1"/>
          <p:nvPr/>
        </p:nvSpPr>
        <p:spPr>
          <a:xfrm>
            <a:off x="640080" y="1188720"/>
            <a:ext cx="7863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Key Findings</a:t>
            </a:r>
            <a:endParaRPr/>
          </a:p>
        </p:txBody>
      </p:sp>
      <p:sp>
        <p:nvSpPr>
          <p:cNvPr id="244" name="Google Shape;244;p10"/>
          <p:cNvSpPr txBox="1"/>
          <p:nvPr/>
        </p:nvSpPr>
        <p:spPr>
          <a:xfrm>
            <a:off x="640080" y="1508760"/>
            <a:ext cx="78639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Hospital bed occupancy is highly forecastable (~2% error)</a:t>
            </a:r>
            <a:br>
              <a:rPr b="0" i="0" lang="en-US" sz="12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2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Strong 52-week seasonality</a:t>
            </a:r>
            <a:r>
              <a:rPr b="0" i="0" lang="en-US" sz="12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is the dominant pattern</a:t>
            </a:r>
            <a:endParaRPr b="0" i="0" sz="1200" u="none" cap="none" strike="noStrike">
              <a:solidFill>
                <a:srgbClr val="4040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i="1" lang="en-US" sz="12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Structural State-Space </a:t>
            </a:r>
            <a:r>
              <a:rPr lang="en-US" sz="12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• Best accuracy (1.75% MAE) • Near-zero bias • Interpretable components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40404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0"/>
          <p:cNvSpPr/>
          <p:nvPr/>
        </p:nvSpPr>
        <p:spPr>
          <a:xfrm>
            <a:off x="457200" y="2377440"/>
            <a:ext cx="8229600" cy="1143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0"/>
          <p:cNvSpPr txBox="1"/>
          <p:nvPr/>
        </p:nvSpPr>
        <p:spPr>
          <a:xfrm>
            <a:off x="640080" y="2468880"/>
            <a:ext cx="7863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Future Directions</a:t>
            </a:r>
            <a:endParaRPr/>
          </a:p>
        </p:txBody>
      </p:sp>
      <p:sp>
        <p:nvSpPr>
          <p:cNvPr id="247" name="Google Shape;247;p10"/>
          <p:cNvSpPr txBox="1"/>
          <p:nvPr/>
        </p:nvSpPr>
        <p:spPr>
          <a:xfrm>
            <a:off x="640078" y="2810224"/>
            <a:ext cx="7863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Explore new features</a:t>
            </a:r>
            <a:r>
              <a:rPr lang="en-US" sz="12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(ED admissions)</a:t>
            </a:r>
            <a:endParaRPr sz="1200">
              <a:solidFill>
                <a:srgbClr val="4040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Ensemble methods:</a:t>
            </a:r>
            <a:r>
              <a:rPr lang="en-US" sz="12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Combine model forecasts for improved robustness</a:t>
            </a:r>
            <a:endParaRPr sz="1200">
              <a:solidFill>
                <a:srgbClr val="4040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Real-time deployment: </a:t>
            </a:r>
            <a:r>
              <a:rPr lang="en-US" sz="12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Clean up code. Build a production pipeline with automated data ingestion and retraining</a:t>
            </a:r>
            <a:endParaRPr sz="1200">
              <a:solidFill>
                <a:srgbClr val="40404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0"/>
          <p:cNvSpPr/>
          <p:nvPr/>
        </p:nvSpPr>
        <p:spPr>
          <a:xfrm>
            <a:off x="457200" y="3657600"/>
            <a:ext cx="8229600" cy="1143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0"/>
          <p:cNvSpPr txBox="1"/>
          <p:nvPr/>
        </p:nvSpPr>
        <p:spPr>
          <a:xfrm>
            <a:off x="640080" y="3749040"/>
            <a:ext cx="7863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Broader Lesson</a:t>
            </a:r>
            <a:endParaRPr/>
          </a:p>
        </p:txBody>
      </p:sp>
      <p:sp>
        <p:nvSpPr>
          <p:cNvPr id="250" name="Google Shape;250;p10"/>
          <p:cNvSpPr txBox="1"/>
          <p:nvPr/>
        </p:nvSpPr>
        <p:spPr>
          <a:xfrm>
            <a:off x="640080" y="4069080"/>
            <a:ext cx="786384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"Model complexity doesn't guarantee better forecasts.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 Understanding your data's fundamental patterns matters more than algorithmic sophistication."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1"/>
          <p:cNvSpPr txBox="1"/>
          <p:nvPr/>
        </p:nvSpPr>
        <p:spPr>
          <a:xfrm>
            <a:off x="457200" y="228600"/>
            <a:ext cx="69921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References — Thank You!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1"/>
          <p:cNvSpPr/>
          <p:nvPr/>
        </p:nvSpPr>
        <p:spPr>
          <a:xfrm>
            <a:off x="274320" y="1097280"/>
            <a:ext cx="8595360" cy="320040"/>
          </a:xfrm>
          <a:prstGeom prst="roundRect">
            <a:avLst>
              <a:gd fmla="val 16667" name="adj"/>
            </a:avLst>
          </a:prstGeom>
          <a:solidFill>
            <a:srgbClr val="4472C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1"/>
          <p:cNvSpPr txBox="1"/>
          <p:nvPr/>
        </p:nvSpPr>
        <p:spPr>
          <a:xfrm>
            <a:off x="365760" y="1143000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Sources</a:t>
            </a:r>
            <a:endParaRPr/>
          </a:p>
        </p:txBody>
      </p:sp>
      <p:sp>
        <p:nvSpPr>
          <p:cNvPr id="259" name="Google Shape;259;p11"/>
          <p:cNvSpPr txBox="1"/>
          <p:nvPr/>
        </p:nvSpPr>
        <p:spPr>
          <a:xfrm>
            <a:off x="365760" y="1508760"/>
            <a:ext cx="84126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1. U.S. Department of Health and Human Services. COVID-19 Reported Patient Impact and Hospital Capacity. </a:t>
            </a:r>
            <a:r>
              <a:rPr lang="en-US" sz="11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healthdata.gov.</a:t>
            </a:r>
            <a:endParaRPr b="0" i="0" sz="1100" u="none" cap="none" strike="noStrike">
              <a:solidFill>
                <a:srgbClr val="40404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https://healthdata.gov/Hospital/COVID-19-Reported-Patient-Impact-and-Hospital-Capa/anag-cw7u/about_data</a:t>
            </a:r>
            <a:endParaRPr sz="1100">
              <a:solidFill>
                <a:srgbClr val="40404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1"/>
          <p:cNvSpPr txBox="1"/>
          <p:nvPr/>
        </p:nvSpPr>
        <p:spPr>
          <a:xfrm>
            <a:off x="365760" y="1965960"/>
            <a:ext cx="8412480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2. </a:t>
            </a:r>
            <a:r>
              <a:rPr b="0" i="0" lang="en-US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Centers for Disease Control and Prevention. FluView Interactive. Accessed via Delphi Epidata API. cdc.gov/fluview/overview/fluview-	interactive.html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1"/>
          <p:cNvSpPr txBox="1"/>
          <p:nvPr/>
        </p:nvSpPr>
        <p:spPr>
          <a:xfrm>
            <a:off x="365760" y="2423160"/>
            <a:ext cx="8412480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3. </a:t>
            </a:r>
            <a:r>
              <a:rPr b="0" i="0" lang="en-US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National Oceanic and Atmospheric Administration. Climate Data Online. www.ncdc.noaa.gov/cdo-web/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1"/>
          <p:cNvSpPr/>
          <p:nvPr/>
        </p:nvSpPr>
        <p:spPr>
          <a:xfrm>
            <a:off x="274320" y="3017520"/>
            <a:ext cx="8595360" cy="320040"/>
          </a:xfrm>
          <a:prstGeom prst="roundRect">
            <a:avLst>
              <a:gd fmla="val 16667" name="adj"/>
            </a:avLst>
          </a:prstGeom>
          <a:solidFill>
            <a:srgbClr val="4472C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1"/>
          <p:cNvSpPr txBox="1"/>
          <p:nvPr/>
        </p:nvSpPr>
        <p:spPr>
          <a:xfrm>
            <a:off x="365760" y="3063240"/>
            <a:ext cx="147399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Other References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1"/>
          <p:cNvSpPr txBox="1"/>
          <p:nvPr/>
        </p:nvSpPr>
        <p:spPr>
          <a:xfrm>
            <a:off x="365760" y="342900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4. Hyndman, R.J., &amp; Athanasopoulos, G. (2021). Forecasting: Principles and Practice, 3rd ed. OTexts.</a:t>
            </a:r>
            <a:endParaRPr/>
          </a:p>
        </p:txBody>
      </p:sp>
      <p:sp>
        <p:nvSpPr>
          <p:cNvPr id="265" name="Google Shape;265;p11"/>
          <p:cNvSpPr txBox="1"/>
          <p:nvPr/>
        </p:nvSpPr>
        <p:spPr>
          <a:xfrm>
            <a:off x="365760" y="3886200"/>
            <a:ext cx="84126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5. Harvey, A.C. (1990). Forecasting, Structural Time Series Models and the Kalman Filter. Cambridge.</a:t>
            </a:r>
            <a:endParaRPr/>
          </a:p>
        </p:txBody>
      </p:sp>
      <p:sp>
        <p:nvSpPr>
          <p:cNvPr id="266" name="Google Shape;266;p11"/>
          <p:cNvSpPr txBox="1"/>
          <p:nvPr/>
        </p:nvSpPr>
        <p:spPr>
          <a:xfrm>
            <a:off x="365760" y="4343400"/>
            <a:ext cx="84126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1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6. Welton JM. Hospital nursing workforce costs, wages, occupational mix, and resource utilization. J Nurs Adm. 2011 Jul-Aug;41(7-8):309-14. doi: 	10.1097/NNA.0b013e3182250a2b. PMID: 21799362.</a:t>
            </a:r>
            <a:endParaRPr b="0" i="0" sz="1800" u="none" cap="none" strike="noStrik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b19871be10_0_2"/>
          <p:cNvSpPr txBox="1"/>
          <p:nvPr/>
        </p:nvSpPr>
        <p:spPr>
          <a:xfrm>
            <a:off x="1192950" y="1721075"/>
            <a:ext cx="6758100" cy="19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700"/>
              <a:t>YT Link to Presentation: </a:t>
            </a:r>
            <a:r>
              <a:rPr lang="en-US" sz="4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https://youtu.be/CnK2XfcPGgg</a:t>
            </a:r>
            <a:r>
              <a:rPr lang="en-US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2"/>
          <p:cNvSpPr txBox="1"/>
          <p:nvPr/>
        </p:nvSpPr>
        <p:spPr>
          <a:xfrm>
            <a:off x="457200" y="274320"/>
            <a:ext cx="4143057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Structural Model Wins!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2"/>
          <p:cNvSpPr/>
          <p:nvPr/>
        </p:nvSpPr>
        <p:spPr>
          <a:xfrm>
            <a:off x="630382" y="1280160"/>
            <a:ext cx="4696691" cy="3200400"/>
          </a:xfrm>
          <a:prstGeom prst="rect">
            <a:avLst/>
          </a:prstGeom>
          <a:solidFill>
            <a:srgbClr val="F5F5F5"/>
          </a:solidFill>
          <a:ln cap="flat" cmpd="sng" w="9525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2"/>
          <p:cNvSpPr txBox="1"/>
          <p:nvPr/>
        </p:nvSpPr>
        <p:spPr>
          <a:xfrm>
            <a:off x="274320" y="265176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[Insert Seasonal Decomposition Plot]</a:t>
            </a:r>
            <a:endParaRPr/>
          </a:p>
        </p:txBody>
      </p:sp>
      <p:sp>
        <p:nvSpPr>
          <p:cNvPr id="280" name="Google Shape;280;p12"/>
          <p:cNvSpPr/>
          <p:nvPr/>
        </p:nvSpPr>
        <p:spPr>
          <a:xfrm>
            <a:off x="5943600" y="1371600"/>
            <a:ext cx="3017520" cy="914400"/>
          </a:xfrm>
          <a:prstGeom prst="roundRect">
            <a:avLst>
              <a:gd fmla="val 16667" name="adj"/>
            </a:avLst>
          </a:prstGeom>
          <a:solidFill>
            <a:srgbClr val="DAE8FC"/>
          </a:solidFill>
          <a:ln cap="flat" cmpd="sng" w="9525">
            <a:solidFill>
              <a:srgbClr val="4472C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2"/>
          <p:cNvSpPr txBox="1"/>
          <p:nvPr/>
        </p:nvSpPr>
        <p:spPr>
          <a:xfrm>
            <a:off x="6035040" y="1417320"/>
            <a:ext cx="103143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📈 Metrics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2"/>
          <p:cNvSpPr txBox="1"/>
          <p:nvPr/>
        </p:nvSpPr>
        <p:spPr>
          <a:xfrm>
            <a:off x="6035040" y="1691640"/>
            <a:ext cx="2834640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Best accuracy, Near zero bias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2"/>
          <p:cNvSpPr/>
          <p:nvPr/>
        </p:nvSpPr>
        <p:spPr>
          <a:xfrm>
            <a:off x="5943600" y="2377440"/>
            <a:ext cx="3017520" cy="914400"/>
          </a:xfrm>
          <a:prstGeom prst="roundRect">
            <a:avLst>
              <a:gd fmla="val 16667" name="adj"/>
            </a:avLst>
          </a:prstGeom>
          <a:solidFill>
            <a:srgbClr val="DAE8FC"/>
          </a:solidFill>
          <a:ln cap="flat" cmpd="sng" w="9525">
            <a:solidFill>
              <a:srgbClr val="4472C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2"/>
          <p:cNvSpPr txBox="1"/>
          <p:nvPr/>
        </p:nvSpPr>
        <p:spPr>
          <a:xfrm>
            <a:off x="6035040" y="2423160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🔄 Seasonal</a:t>
            </a:r>
            <a:endParaRPr/>
          </a:p>
        </p:txBody>
      </p:sp>
      <p:sp>
        <p:nvSpPr>
          <p:cNvPr id="285" name="Google Shape;285;p12"/>
          <p:cNvSpPr txBox="1"/>
          <p:nvPr/>
        </p:nvSpPr>
        <p:spPr>
          <a:xfrm>
            <a:off x="6035040" y="2697480"/>
            <a:ext cx="2834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52-week annual cycle</a:t>
            </a:r>
            <a:br>
              <a:rPr b="0" i="0" lang="en-US" sz="11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rPr>
              <a:t>(winter peaks, summer troughs)</a:t>
            </a:r>
            <a:endParaRPr/>
          </a:p>
        </p:txBody>
      </p:sp>
      <p:sp>
        <p:nvSpPr>
          <p:cNvPr id="286" name="Google Shape;286;p12"/>
          <p:cNvSpPr/>
          <p:nvPr/>
        </p:nvSpPr>
        <p:spPr>
          <a:xfrm>
            <a:off x="5943600" y="3383280"/>
            <a:ext cx="3017520" cy="914400"/>
          </a:xfrm>
          <a:prstGeom prst="roundRect">
            <a:avLst>
              <a:gd fmla="val 16667" name="adj"/>
            </a:avLst>
          </a:prstGeom>
          <a:solidFill>
            <a:srgbClr val="DAE8FC"/>
          </a:solidFill>
          <a:ln cap="flat" cmpd="sng" w="9525">
            <a:solidFill>
              <a:srgbClr val="4472C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2"/>
          <p:cNvSpPr txBox="1"/>
          <p:nvPr/>
        </p:nvSpPr>
        <p:spPr>
          <a:xfrm>
            <a:off x="6035040" y="3429000"/>
            <a:ext cx="145026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📊 Interpretable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2"/>
          <p:cNvSpPr/>
          <p:nvPr/>
        </p:nvSpPr>
        <p:spPr>
          <a:xfrm>
            <a:off x="274320" y="4663440"/>
            <a:ext cx="8595360" cy="548640"/>
          </a:xfrm>
          <a:prstGeom prst="roundRect">
            <a:avLst>
              <a:gd fmla="val 16667" name="adj"/>
            </a:avLst>
          </a:prstGeom>
          <a:solidFill>
            <a:srgbClr val="0080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2"/>
          <p:cNvSpPr txBox="1"/>
          <p:nvPr/>
        </p:nvSpPr>
        <p:spPr>
          <a:xfrm>
            <a:off x="274320" y="4754880"/>
            <a:ext cx="8595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💡 Key Insight: Annual seasonality explains most of the variation</a:t>
            </a:r>
            <a:endParaRPr/>
          </a:p>
        </p:txBody>
      </p:sp>
      <p:pic>
        <p:nvPicPr>
          <p:cNvPr id="290" name="Google Shape;290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0382" y="1278775"/>
            <a:ext cx="4696691" cy="32248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>Noah Eilken</dc:creator>
</cp:coreProperties>
</file>